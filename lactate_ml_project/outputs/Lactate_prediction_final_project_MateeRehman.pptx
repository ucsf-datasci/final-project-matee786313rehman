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1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E564F-6E02-4F11-94F8-0C49013DBEB3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827B3-BFE8-437C-B34B-D14C58CE7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6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 both predictive performance and whether complex ML adds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827B3-BFE8-437C-B34B-D14C58CE72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9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lactate strongly dominates prediction, with additional contributions from hemodynamics and surgical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827B3-BFE8-437C-B34B-D14C58CE72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Performance drops substantially, but meaningful signal remains—indicating independent physiologic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827B3-BFE8-437C-B34B-D14C58CE72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111E5896-917A-4035-A860-408E1EC3CD51}" type="slidenum">
              <a:rPr lang="en-US" smtClean="0">
                <a:solidFill>
                  <a:srgbClr val="052049"/>
                </a:solidFill>
                <a:latin typeface="Arial" pitchFamily="34" charset="0"/>
                <a:cs typeface="Arial" pitchFamily="34" charset="0"/>
              </a:rPr>
              <a:pPr algn="r"/>
              <a:t>14</a:t>
            </a:fld>
            <a:endParaRPr lang="en-US" dirty="0">
              <a:solidFill>
                <a:srgbClr val="05204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>
                <a:solidFill>
                  <a:srgbClr val="052049"/>
                </a:solidFill>
                <a:latin typeface="+mj-lt"/>
              </a:rPr>
              <a:t>| [footer text here]</a:t>
            </a:r>
            <a:endParaRPr lang="en-US" sz="800" dirty="0">
              <a:solidFill>
                <a:srgbClr val="05204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0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886C-1267-36A2-65D3-66D5D777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C0662-1D98-CE25-D4ED-A4E9D8856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60828-82C2-08B2-8C3B-DAD6B687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F030E-2A29-2CFA-4F3A-BE27AEF2A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69B3A-4BB4-4594-CE72-05FD8886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9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84B97-EA9C-0983-8242-9E6138E5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B9430-AC0C-1EE6-F0C8-47EA78E0F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6A5E-6F13-8C91-34B0-853C3A5B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EB47-C350-375A-46F7-66D94685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22388-3B35-A29C-AB38-56295092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68E2-F57F-1ACF-A11F-CBDA159E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4E5D7-A1FD-9C5D-3BBD-76CDFE5BF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FFAF6-8C34-0376-EE6C-5580FA44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BF3E9-0BEB-CE66-84A2-3A93EC92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B522C-11E1-744A-360F-BA9071DD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3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BC78-7F29-19B7-71B6-DB9C2C62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BAA3-7B31-6509-9EA8-E31AE9317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60102-C2E0-23AD-C678-AB791188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60385-0CC2-7344-A83E-C323E337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75F66-ED49-99EB-7DCA-076CB8F2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87382-78D3-2782-F6FF-488F1AE7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7438-6842-AFD2-E2FD-46909C3E9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7F628-DCF0-ADA0-17FE-011079BE1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85B4C-B43F-571B-00DD-F4B7AD1B7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3B574-707F-27FD-6F67-E61D1BA05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72B092-976C-6008-40AB-1E0657878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A423A-C0DB-8E00-B0E8-B3FE5696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FC4D4-4928-183E-41B2-C7A909F8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50753-B317-7EB8-E458-0F40CD4C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0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7B31-1B29-96B8-C5C5-DC1E804E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170C5-CB6A-F515-09EF-18AC283F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00E80-BE00-F19C-DDDD-08DC9D8D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21DF6-EF57-36D3-2D8E-BB4BB395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85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E2BCB-90BE-17B0-74D4-2E67D13A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38119-1712-D386-CB0F-7A84939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B079E-A77D-704C-8EAC-FF32058E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3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7246-52F9-D101-ED5F-EE42C0E8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B3F5D-DDA7-1B15-3A66-BF4D90EDA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333F3-E37F-CED9-E2EB-6E7AE215F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95285-C739-2AC5-1877-AC72A5947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A784B-6F5D-0F53-4D52-D1D8F261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93BB5-FE56-B300-C612-21161D14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7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C566-C217-9C10-2AC9-E189D6CA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A0922-6E87-FA27-99FF-1D68A2E33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575E5-236E-08EF-6ED0-C8ECC9365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60D7A-3517-5C51-7837-5AB905F2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0C99-605C-2E3B-77B1-633448C4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7BD55-5A70-1211-B53A-00281D94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9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B8F6-5250-483E-3C62-CFFEB579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B77C6-E8F7-61E2-B180-F8E9EA13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56802-0A38-6CA0-CD90-EDF72863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F727-91F4-A1FE-0E7F-27CCD0CB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12BBB-85B8-6043-B326-8B2EB66C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2D1F8-C140-6DE7-686D-CCC8F7015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05C78-9C39-9028-3B90-09A198DF5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D2FFB-D9F1-649F-2603-B0CF08BB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A19C7-10B7-8BF9-46EA-F0258EA7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E0F2-CB97-BF60-BE45-4DE6F037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72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12035" y="5764696"/>
            <a:ext cx="11979965" cy="1093304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itle 15"/>
          <p:cNvSpPr>
            <a:spLocks noGrp="1"/>
          </p:cNvSpPr>
          <p:nvPr>
            <p:ph type="title" hasCustomPrompt="1"/>
          </p:nvPr>
        </p:nvSpPr>
        <p:spPr>
          <a:xfrm>
            <a:off x="948067" y="2504663"/>
            <a:ext cx="10766855" cy="1749284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3" name="Date Placeholder 4"/>
          <p:cNvSpPr>
            <a:spLocks noGrp="1"/>
          </p:cNvSpPr>
          <p:nvPr>
            <p:ph type="dt" sz="half" idx="2"/>
          </p:nvPr>
        </p:nvSpPr>
        <p:spPr>
          <a:xfrm>
            <a:off x="948066" y="6155227"/>
            <a:ext cx="2442543" cy="238607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9E99DBD-4718-D446-B464-2727EF69D20C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48066" y="5469678"/>
            <a:ext cx="5275525" cy="56895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tx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953450" y="4246882"/>
            <a:ext cx="10777940" cy="6776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1A1661-819F-264F-850E-ADAE2B7BD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97673" y="1729861"/>
            <a:ext cx="3678068" cy="57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484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Slide –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/>
          <p:cNvSpPr>
            <a:spLocks noGrp="1"/>
          </p:cNvSpPr>
          <p:nvPr>
            <p:ph type="title" hasCustomPrompt="1"/>
          </p:nvPr>
        </p:nvSpPr>
        <p:spPr>
          <a:xfrm>
            <a:off x="604780" y="425003"/>
            <a:ext cx="10898107" cy="611449"/>
          </a:xfrm>
        </p:spPr>
        <p:txBody>
          <a:bodyPr anchor="b">
            <a:noAutofit/>
          </a:bodyPr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3" y="927657"/>
            <a:ext cx="10893285" cy="4465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i="0">
                <a:latin typeface="+mn-lt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609234" y="1894327"/>
            <a:ext cx="5102453" cy="3804111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4pPr>
              <a:buClr>
                <a:schemeClr val="tx1"/>
              </a:buClr>
              <a:defRPr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6387182" y="1894327"/>
            <a:ext cx="5102453" cy="3804111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4pPr>
              <a:buClr>
                <a:schemeClr val="tx1"/>
              </a:buClr>
              <a:defRPr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99EDBF-13E4-5748-B387-F10AC829A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1196" y="6286380"/>
            <a:ext cx="3125832" cy="489485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3422873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83470" y="1908316"/>
            <a:ext cx="10972431" cy="280946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i="0" baseline="0">
                <a:latin typeface="+mn-lt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96899" y="4929107"/>
            <a:ext cx="8685277" cy="5739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662608" y="4"/>
            <a:ext cx="1431235" cy="1577005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rgbClr val="90BD3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579507" y="353943"/>
            <a:ext cx="1590260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800" b="1" i="0" dirty="0">
                <a:solidFill>
                  <a:schemeClr val="bg2"/>
                </a:solidFill>
                <a:latin typeface="+mn-lt"/>
              </a:rPr>
              <a:t>“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96899" y="5307938"/>
            <a:ext cx="8685277" cy="5879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  <p:extLst>
      <p:ext uri="{BB962C8B-B14F-4D97-AF65-F5344CB8AC3E}">
        <p14:creationId xmlns:p14="http://schemas.microsoft.com/office/powerpoint/2010/main" val="423075955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667C0-3822-746C-9DAF-50819C07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DD43-4195-65DB-D114-0E905233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668F1-DAC3-4613-F7A9-CD5502556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6A41D-4845-44DD-82D8-D3C6CE85B82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F6571-8133-5426-05FF-80D2A3DE7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03480-DC19-B9E8-9F78-7CC610B79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B68FD-22B0-4A5F-B8F4-DC3C8A16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6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Predicting Postoperative Lactate in Neonatal Cardiopulmonary Bypass Surgery for Congenital Heart Defect Repair.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44393-862A-1C46-BDDB-2F6F881A09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6725191-54DC-B34B-8368-2B7D2CFA57EF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(This project aims to understand what factors are key in determining lactate trajectory in the cardiac intensive care unit, while assuming linearity. We look at a subset of my Capstone cohort). </a:t>
            </a:r>
          </a:p>
          <a:p>
            <a:r>
              <a:rPr lang="en-US" dirty="0"/>
              <a:t>Matee Rehman MD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887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6C51BA-E596-AA4B-9A00-BD4B801E03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b="1" dirty="0"/>
              <a:t>Predicting Postoperative Lactate in Neonatal Cardiopulmonary Bypass Surgery for Congenital Heart Defect Repair.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E4B593-BD68-8749-ADE6-20FA65A1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7F9C8C-063D-B342-89A4-24C81D2B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2A318-5BB7-AD4C-B7C9-5E99297FB9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What’s the biology?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B488B1A-DDA3-CE04-DBC2-BCFCEA3363C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87181" y="1374186"/>
            <a:ext cx="5102453" cy="3804111"/>
          </a:xfrm>
        </p:spPr>
        <p:txBody>
          <a:bodyPr>
            <a:normAutofit/>
          </a:bodyPr>
          <a:lstStyle/>
          <a:p>
            <a:r>
              <a:rPr lang="en-US" sz="1800" dirty="0"/>
              <a:t>Persistent or rising postoperative lactate levels are associated with increased risk of postoperative complications across several surgical populations.</a:t>
            </a:r>
          </a:p>
          <a:p>
            <a:r>
              <a:rPr lang="en-US" sz="1800" dirty="0"/>
              <a:t>Serum lactate level is a risk factor for postoperative complications in patients undergoing cytoreductive surgery for peritoneal carcinomatosis. This study suggests that the risk of developing severe complications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0237D4B-4360-4819-BF36-F6E115AD150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7433" y="1405441"/>
            <a:ext cx="5486400" cy="4524902"/>
          </a:xfrm>
        </p:spPr>
        <p:txBody>
          <a:bodyPr>
            <a:noAutofit/>
          </a:bodyPr>
          <a:lstStyle/>
          <a:p>
            <a:r>
              <a:rPr lang="en-US" sz="1800" dirty="0"/>
              <a:t>Lactate is a key </a:t>
            </a:r>
            <a:r>
              <a:rPr lang="en-US" sz="1800" i="1" dirty="0"/>
              <a:t>marker* </a:t>
            </a:r>
            <a:r>
              <a:rPr lang="en-US" sz="1800" dirty="0"/>
              <a:t>of adequate tissue oxygen delivery, especially in neonates</a:t>
            </a:r>
            <a:r>
              <a:rPr lang="en-US" sz="1800" baseline="30000" dirty="0"/>
              <a:t>1</a:t>
            </a:r>
            <a:r>
              <a:rPr lang="en-US" sz="1800" dirty="0"/>
              <a:t> (≤28 days old) following CPB surgeries for CHD. </a:t>
            </a:r>
          </a:p>
          <a:p>
            <a:r>
              <a:rPr lang="en-US" sz="1800" dirty="0"/>
              <a:t>The higher the lactate, less the perfusion and/or oxygenation.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Essentially higher lactate levels may inform postoperative complication: </a:t>
            </a:r>
          </a:p>
          <a:p>
            <a:pPr marL="0" indent="0">
              <a:buNone/>
            </a:pPr>
            <a:r>
              <a:rPr lang="en-US" sz="1800" dirty="0"/>
              <a:t>“</a:t>
            </a:r>
            <a:r>
              <a:rPr lang="en-US" sz="1800" i="1" dirty="0"/>
              <a:t>Prolonged elevated blood lactate levels strongly correlate with poor outcomes in a variety of critically ill patients. We hypothesized that the dynamic postoperative changes in blood lactate levels during the first 24 h were significantly associated with postoperative morbidity and mortality in patients undergoing elective major abdominal surgery.</a:t>
            </a:r>
            <a:r>
              <a:rPr lang="en-US" sz="1800" dirty="0"/>
              <a:t>” Li et al.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C9E6D2-5409-74B3-4AFE-7B57539F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758" y="3810399"/>
            <a:ext cx="3125528" cy="233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0090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0BDA-64C0-078E-4E8A-01FA9F6E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641F-3EDD-7901-B2B1-D2753E7153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How are lactate levels at the 12th postoperative timepoint in the cardiac critical care unit impacted by other predictors in neonates with congenital heart disease after cardiopulmonary bypass surgery?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1F555-83D8-D74F-E10C-B374A5D203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4780" y="1876840"/>
            <a:ext cx="6867588" cy="4556157"/>
          </a:xfrm>
        </p:spPr>
        <p:txBody>
          <a:bodyPr>
            <a:normAutofit/>
          </a:bodyPr>
          <a:lstStyle/>
          <a:p>
            <a:r>
              <a:rPr lang="en-US" sz="2400" dirty="0"/>
              <a:t>Predict: lactate at 12</a:t>
            </a:r>
            <a:r>
              <a:rPr lang="en-US" sz="2400" baseline="30000" dirty="0"/>
              <a:t>th</a:t>
            </a:r>
            <a:r>
              <a:rPr lang="en-US" sz="2400" dirty="0"/>
              <a:t> postop hour</a:t>
            </a:r>
          </a:p>
          <a:p>
            <a:r>
              <a:rPr lang="en-US" sz="2400" dirty="0"/>
              <a:t>Predictors/Features: Early admission variables (labs, hemodynamics, surgical complexity and stress). </a:t>
            </a:r>
          </a:p>
          <a:p>
            <a:endParaRPr lang="en-US" sz="2400" dirty="0"/>
          </a:p>
          <a:p>
            <a:r>
              <a:rPr lang="en-US" sz="2400" dirty="0"/>
              <a:t>Comparison between Linear regression and Random Forrest regressor</a:t>
            </a:r>
          </a:p>
        </p:txBody>
      </p:sp>
    </p:spTree>
    <p:extLst>
      <p:ext uri="{BB962C8B-B14F-4D97-AF65-F5344CB8AC3E}">
        <p14:creationId xmlns:p14="http://schemas.microsoft.com/office/powerpoint/2010/main" val="261115648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500B-79C3-90E7-44E7-196788C5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46" y="192774"/>
            <a:ext cx="10898107" cy="611449"/>
          </a:xfrm>
        </p:spPr>
        <p:txBody>
          <a:bodyPr/>
          <a:lstStyle/>
          <a:p>
            <a:r>
              <a:rPr lang="en-US" dirty="0"/>
              <a:t>Dataset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0A9A3-B176-0D2C-88D0-71A1F7BDB84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8335" y="868217"/>
            <a:ext cx="11575327" cy="5436920"/>
          </a:xfrm>
        </p:spPr>
        <p:txBody>
          <a:bodyPr>
            <a:normAutofit/>
          </a:bodyPr>
          <a:lstStyle/>
          <a:p>
            <a:r>
              <a:rPr lang="en-US" sz="2200" dirty="0"/>
              <a:t>UCSF IRB-approved data derived from </a:t>
            </a:r>
            <a:r>
              <a:rPr lang="en-US" sz="2200" dirty="0" err="1"/>
              <a:t>APeX</a:t>
            </a:r>
            <a:r>
              <a:rPr lang="en-US" sz="2200" dirty="0"/>
              <a:t> chart notes and imported onto and manually curated and cleaned through </a:t>
            </a:r>
            <a:r>
              <a:rPr lang="en-US" sz="2200" dirty="0" err="1"/>
              <a:t>RedCap</a:t>
            </a:r>
            <a:r>
              <a:rPr lang="en-US" sz="2200" dirty="0"/>
              <a:t> database management tool, and deidentified (MRNs and </a:t>
            </a:r>
            <a:r>
              <a:rPr lang="en-US" sz="2200" dirty="0" err="1"/>
              <a:t>encounterIDs</a:t>
            </a:r>
            <a:r>
              <a:rPr lang="en-US" sz="2200" dirty="0"/>
              <a:t> removed) and cleaned using R.</a:t>
            </a:r>
          </a:p>
          <a:p>
            <a:r>
              <a:rPr lang="en-US" sz="2200" b="1" dirty="0"/>
              <a:t>Population</a:t>
            </a:r>
            <a:r>
              <a:rPr lang="en-US" sz="2200" dirty="0"/>
              <a:t>: Neonates from UCSF Mission Bay Children's Hospital who had CPB surgery for congenital heart defects. </a:t>
            </a:r>
          </a:p>
          <a:p>
            <a:r>
              <a:rPr lang="en-US" sz="2200" dirty="0"/>
              <a:t>N = 201</a:t>
            </a:r>
          </a:p>
          <a:p>
            <a:r>
              <a:rPr lang="en-US" sz="2200" dirty="0"/>
              <a:t>Outcome: Lactate at 12</a:t>
            </a:r>
            <a:r>
              <a:rPr lang="en-US" sz="2200" baseline="30000" dirty="0"/>
              <a:t>th</a:t>
            </a:r>
            <a:r>
              <a:rPr lang="en-US" sz="2200" dirty="0"/>
              <a:t> Postop </a:t>
            </a:r>
            <a:r>
              <a:rPr lang="en-US" sz="2200" dirty="0" err="1"/>
              <a:t>hr</a:t>
            </a:r>
            <a:r>
              <a:rPr lang="en-US" sz="2200" dirty="0"/>
              <a:t> </a:t>
            </a:r>
          </a:p>
          <a:p>
            <a:r>
              <a:rPr lang="en-US" sz="2200" dirty="0"/>
              <a:t>14 features:</a:t>
            </a:r>
          </a:p>
          <a:p>
            <a:pPr marL="0" indent="0">
              <a:buNone/>
            </a:pPr>
            <a:r>
              <a:rPr lang="en-US" sz="2200" dirty="0"/>
              <a:t>Lactate at 1</a:t>
            </a:r>
            <a:r>
              <a:rPr lang="en-US" sz="2200" baseline="30000" dirty="0"/>
              <a:t>st</a:t>
            </a:r>
            <a:r>
              <a:rPr lang="en-US" sz="2200" dirty="0"/>
              <a:t> </a:t>
            </a:r>
            <a:r>
              <a:rPr lang="en-US" sz="2200" dirty="0" err="1"/>
              <a:t>hr</a:t>
            </a:r>
            <a:r>
              <a:rPr lang="en-US" sz="2200" dirty="0"/>
              <a:t>,  lactate at 6</a:t>
            </a:r>
            <a:r>
              <a:rPr lang="en-US" sz="2200" baseline="30000" dirty="0"/>
              <a:t>th</a:t>
            </a:r>
            <a:r>
              <a:rPr lang="en-US" sz="2200" dirty="0"/>
              <a:t> </a:t>
            </a:r>
            <a:r>
              <a:rPr lang="en-US" sz="2200" dirty="0" err="1"/>
              <a:t>hr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MAP, HCT</a:t>
            </a:r>
          </a:p>
          <a:p>
            <a:pPr marL="0" indent="0">
              <a:buNone/>
            </a:pPr>
            <a:r>
              <a:rPr lang="en-US" sz="2200" dirty="0"/>
              <a:t>CPB time, cross-clamp</a:t>
            </a:r>
          </a:p>
          <a:p>
            <a:pPr marL="0" indent="0">
              <a:buNone/>
            </a:pPr>
            <a:r>
              <a:rPr lang="en-US" sz="2200" dirty="0"/>
              <a:t>vasoactive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4097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301C-00BF-34F9-5659-B347CE01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264E10C-CA8E-940A-6E8D-6C177C28138B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491075" y="1898520"/>
            <a:ext cx="1120985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NA (physiologic variables)*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imputation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encoding (prematurity)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 fully missing variables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i="1" dirty="0"/>
              <a:t>*During data collection, some rows had "0's" placed for "NA's" - missing values, instead of being left blank (a convention standardized for subsequent rows). Since these were physiological variables where 0 is biologically implausible as a value, the 0s for those columns were replaced with NAs. (domain-informed decision)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9314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AD1F-05E9-3B71-9364-B8E5D330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30B157-52B5-79BA-2E2D-936D1F30A3D7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604780" y="1605876"/>
            <a:ext cx="5824223" cy="1823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(baseline)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C5CEFD-B0F0-9106-9CF1-76387CA9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80" y="3233497"/>
            <a:ext cx="4694327" cy="2415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508CFB-17E0-5924-6A78-8C25172985ED}"/>
              </a:ext>
            </a:extLst>
          </p:cNvPr>
          <p:cNvSpPr txBox="1"/>
          <p:nvPr/>
        </p:nvSpPr>
        <p:spPr>
          <a:xfrm>
            <a:off x="5660572" y="3429000"/>
            <a:ext cx="644434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Paul F. Smith, Siva Ganesh, Ping Liu,</a:t>
            </a:r>
          </a:p>
          <a:p>
            <a:r>
              <a:rPr lang="en-US" sz="1600" dirty="0"/>
              <a:t>A comparison of random forest regression and multiple linear regression for prediction in neuroscience,</a:t>
            </a:r>
          </a:p>
          <a:p>
            <a:r>
              <a:rPr lang="en-US" sz="1600" dirty="0"/>
              <a:t>Journal of Neuroscience Methods,</a:t>
            </a:r>
          </a:p>
          <a:p>
            <a:r>
              <a:rPr lang="en-US" sz="1600" dirty="0"/>
              <a:t>Volume 220, Issue 1,</a:t>
            </a:r>
          </a:p>
          <a:p>
            <a:r>
              <a:rPr lang="en-US" sz="1600" dirty="0"/>
              <a:t>2013, Pages 85-91, ISSN 0165-0270, https://doi.org/10.1016/j.jneumeth.2013.08.024.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035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D9CF-2A86-9D30-14BC-3AB4BFB2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983F2-3799-4189-73A9-1181C8B0A1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Primary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624E7-856D-146B-EBC8-F7E8A368A14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4780" y="1894326"/>
            <a:ext cx="5102453" cy="3804111"/>
          </a:xfrm>
        </p:spPr>
        <p:txBody>
          <a:bodyPr>
            <a:normAutofit/>
          </a:bodyPr>
          <a:lstStyle/>
          <a:p>
            <a:r>
              <a:rPr lang="en-US" sz="2000" dirty="0"/>
              <a:t>Assumption: Relationship is linear </a:t>
            </a:r>
          </a:p>
          <a:p>
            <a:r>
              <a:rPr lang="en-US" sz="2000" dirty="0"/>
              <a:t>Primary result: Linear regression outperformed Random Forest, suggesting the relationship is largely linear.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F2F677-45DC-EFF4-23CB-B9D2589627B9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699886816"/>
              </p:ext>
            </p:extLst>
          </p:nvPr>
        </p:nvGraphicFramePr>
        <p:xfrm>
          <a:off x="6399077" y="1894326"/>
          <a:ext cx="51038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270">
                  <a:extLst>
                    <a:ext uri="{9D8B030D-6E8A-4147-A177-3AD203B41FA5}">
                      <a16:colId xmlns:a16="http://schemas.microsoft.com/office/drawing/2014/main" val="3394374891"/>
                    </a:ext>
                  </a:extLst>
                </a:gridCol>
                <a:gridCol w="1701270">
                  <a:extLst>
                    <a:ext uri="{9D8B030D-6E8A-4147-A177-3AD203B41FA5}">
                      <a16:colId xmlns:a16="http://schemas.microsoft.com/office/drawing/2014/main" val="4089527824"/>
                    </a:ext>
                  </a:extLst>
                </a:gridCol>
                <a:gridCol w="1701270">
                  <a:extLst>
                    <a:ext uri="{9D8B030D-6E8A-4147-A177-3AD203B41FA5}">
                      <a16:colId xmlns:a16="http://schemas.microsoft.com/office/drawing/2014/main" val="1665394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55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2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2112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17C9-44C0-EB99-6679-DEFA767B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Predictors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F644B5-1237-5862-7587-725801C7444A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5559863" y="1430116"/>
            <a:ext cx="6027357" cy="399776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EE7BC75-4AC5-A82D-F256-45A0F644BAD1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604780" y="1894327"/>
            <a:ext cx="479008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Lactate at 6</a:t>
            </a:r>
            <a:r>
              <a:rPr lang="en-US" altLang="en-US" sz="2000" baseline="30000" dirty="0">
                <a:latin typeface="Arial" panose="020B0604020202020204" pitchFamily="34" charset="0"/>
              </a:rPr>
              <a:t>th</a:t>
            </a:r>
            <a:r>
              <a:rPr lang="en-US" altLang="en-US" sz="2000" dirty="0">
                <a:latin typeface="Arial" panose="020B0604020202020204" pitchFamily="34" charset="0"/>
              </a:rPr>
              <a:t> postoperative </a:t>
            </a:r>
            <a:r>
              <a:rPr lang="en-US" altLang="en-US" sz="2000" dirty="0" err="1">
                <a:latin typeface="Arial" panose="020B0604020202020204" pitchFamily="34" charset="0"/>
              </a:rPr>
              <a:t>hr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(overwhelmingly dominant)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Arterial Pressure (Makes clinical sense)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CPB time in mins (provides an estimate of surgical stress)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Birth weight in kg, Early Hematocrit % at 6</a:t>
            </a:r>
            <a:r>
              <a:rPr lang="en-US" altLang="en-US" sz="2000" baseline="30000" dirty="0">
                <a:latin typeface="Arial" panose="020B0604020202020204" pitchFamily="34" charset="0"/>
              </a:rPr>
              <a:t>th</a:t>
            </a:r>
            <a:r>
              <a:rPr lang="en-US" altLang="en-US" sz="2000" dirty="0">
                <a:latin typeface="Arial" panose="020B0604020202020204" pitchFamily="34" charset="0"/>
              </a:rPr>
              <a:t> and 1</a:t>
            </a:r>
            <a:r>
              <a:rPr lang="en-US" altLang="en-US" sz="2000" baseline="30000" dirty="0">
                <a:latin typeface="Arial" panose="020B0604020202020204" pitchFamily="34" charset="0"/>
              </a:rPr>
              <a:t>st</a:t>
            </a:r>
            <a:r>
              <a:rPr lang="en-US" altLang="en-US" sz="2000" dirty="0">
                <a:latin typeface="Arial" panose="020B0604020202020204" pitchFamily="34" charset="0"/>
              </a:rPr>
              <a:t> Postop hour in the CICU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41050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1D36-BF75-E94D-A9F5-5CE69AFA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55E16-AA8B-0A3B-4E50-383FFA367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Sensitivity Analysis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DAABB-0339-1966-60A7-43F9FC65509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We removed lactate at the 6</a:t>
            </a:r>
            <a:r>
              <a:rPr lang="en-US" sz="2000" baseline="30000" dirty="0"/>
              <a:t>th</a:t>
            </a:r>
            <a:r>
              <a:rPr lang="en-US" sz="2000" dirty="0"/>
              <a:t> postop CICU timepoint to check performance metrics once again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Key takeaways: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ML did not outperform linear models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 may be sufficient in small clinical datasets</a:t>
            </a:r>
          </a:p>
          <a:p>
            <a:endParaRPr lang="en-US" sz="2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BD85CC4-2BAD-08DD-BD97-C7A008D4524E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265366124"/>
              </p:ext>
            </p:extLst>
          </p:nvPr>
        </p:nvGraphicFramePr>
        <p:xfrm>
          <a:off x="6386513" y="1893888"/>
          <a:ext cx="51038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270">
                  <a:extLst>
                    <a:ext uri="{9D8B030D-6E8A-4147-A177-3AD203B41FA5}">
                      <a16:colId xmlns:a16="http://schemas.microsoft.com/office/drawing/2014/main" val="4084581465"/>
                    </a:ext>
                  </a:extLst>
                </a:gridCol>
                <a:gridCol w="1701270">
                  <a:extLst>
                    <a:ext uri="{9D8B030D-6E8A-4147-A177-3AD203B41FA5}">
                      <a16:colId xmlns:a16="http://schemas.microsoft.com/office/drawing/2014/main" val="4109874078"/>
                    </a:ext>
                  </a:extLst>
                </a:gridCol>
                <a:gridCol w="1701270">
                  <a:extLst>
                    <a:ext uri="{9D8B030D-6E8A-4147-A177-3AD203B41FA5}">
                      <a16:colId xmlns:a16="http://schemas.microsoft.com/office/drawing/2014/main" val="1519119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50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41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061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59762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C947-1F5F-013F-5D9D-E06EB257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46E360-63E7-B0CB-3D6D-AA8180AA720A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604780" y="1082849"/>
            <a:ext cx="541502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temporal autocorrelation (early postop CICU lactate predicts late postop CICU lactate)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signal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perfusion (mean arterial pressure)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Surgical burden (CPB time, Aortic Cross-Clamp Time*)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Linear model sufficient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*</a:t>
            </a:r>
            <a:r>
              <a:rPr lang="en-US" sz="1600" dirty="0"/>
              <a:t>Aortic cross-clamp time (ACXT) is the duration the aorta is clamped during heart surgery, stopping blood flow to the heart (ischemia). Generally, a safe ACXT is under 60–90 minutes; exceeding 90–120 minutes significantly increases mortality and morbidity, particularly with factors like age, low ejection fraction, or complex repairs.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Surgical feasibility of ascending aorta manipulation after transcatheter  aortic valve implantation: a computed tomography theoretical analysis |  EuroIntervention">
            <a:extLst>
              <a:ext uri="{FF2B5EF4-FFF2-40B4-BE49-F238E27FC236}">
                <a16:creationId xmlns:a16="http://schemas.microsoft.com/office/drawing/2014/main" id="{C0895161-C307-6301-F7D3-78004E24F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392" y="307142"/>
            <a:ext cx="4463428" cy="393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FFFE45-C336-CAF6-577F-58ADDEBD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91" y="4363322"/>
            <a:ext cx="4463429" cy="195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3886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33D6-AB1B-B082-4617-AA4700F0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BBFF8C0-2534-50F2-2C04-988503A1C3B9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604780" y="1377388"/>
            <a:ext cx="763465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sample size</a:t>
            </a:r>
            <a:r>
              <a:rPr lang="en-US" altLang="en-US" sz="2000" dirty="0">
                <a:latin typeface="Arial" panose="020B0604020202020204" pitchFamily="34" charset="0"/>
              </a:rPr>
              <a:t>, single centered retrospective cohort with </a:t>
            </a:r>
            <a:r>
              <a:rPr lang="en-US" altLang="en-US" sz="2000" dirty="0" err="1">
                <a:latin typeface="Arial" panose="020B0604020202020204" pitchFamily="34" charset="0"/>
              </a:rPr>
              <a:t>tonnes</a:t>
            </a:r>
            <a:r>
              <a:rPr lang="en-US" altLang="en-US" sz="2000" dirty="0">
                <a:latin typeface="Arial" panose="020B0604020202020204" pitchFamily="34" charset="0"/>
              </a:rPr>
              <a:t> of missing values (MNAR – sicker patients = MORE LABS)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causal inference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temporal resolution</a:t>
            </a:r>
          </a:p>
        </p:txBody>
      </p:sp>
    </p:spTree>
    <p:extLst>
      <p:ext uri="{BB962C8B-B14F-4D97-AF65-F5344CB8AC3E}">
        <p14:creationId xmlns:p14="http://schemas.microsoft.com/office/powerpoint/2010/main" val="138871273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F143-F294-6092-23F5-40021576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(Capstone)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B75C82B-693D-D868-E661-BAE3833E5142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604780" y="1828562"/>
            <a:ext cx="652468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 and modeling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validation with a bigger, multi-centered cohort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AutoNum type="arabicParenR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granular physiologic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3323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1B5E-F691-80DE-F52E-0195CFCD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91474-5A6A-8890-FED1-E38A053ADB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Predicted vs Actual Plot &amp; Residual Plot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654FCE-AAE5-78E2-665F-87562A45C23B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2"/>
          <a:stretch>
            <a:fillRect/>
          </a:stretch>
        </p:blipFill>
        <p:spPr>
          <a:xfrm>
            <a:off x="205606" y="1391688"/>
            <a:ext cx="5890394" cy="482424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2CEFB8-7BF2-A037-B8FE-00B9EF6C4EB5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6096000" y="1391688"/>
            <a:ext cx="6015240" cy="48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508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Thank you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E73D12-B6D3-FC4F-B436-C8D17051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Predicting Postoperative Lactate in Neonatal Cardiopulmonary Bypass Surgery for Congenital Heart Defect Repair.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91A043-44FA-2F42-B2D0-03AC230D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1897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889</Words>
  <Application>Microsoft Office PowerPoint</Application>
  <PresentationFormat>Widescreen</PresentationFormat>
  <Paragraphs>126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Predicting Postoperative Lactate in Neonatal Cardiopulmonary Bypass Surgery for Congenital Heart Defect Repair.</vt:lpstr>
      <vt:lpstr>Literature</vt:lpstr>
      <vt:lpstr>Study Question</vt:lpstr>
      <vt:lpstr>Dataset </vt:lpstr>
      <vt:lpstr>Preprocessing</vt:lpstr>
      <vt:lpstr>Modeling Approach</vt:lpstr>
      <vt:lpstr>Results </vt:lpstr>
      <vt:lpstr>Key Predictors</vt:lpstr>
      <vt:lpstr>Results </vt:lpstr>
      <vt:lpstr>Interpretation</vt:lpstr>
      <vt:lpstr>Limitations</vt:lpstr>
      <vt:lpstr>Future Work (Capstone)</vt:lpstr>
      <vt:lpstr>Appendix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Rehman, Matee Ur</dc:creator>
  <cp:lastModifiedBy>Rehman, Matee Ur</cp:lastModifiedBy>
  <cp:revision>1</cp:revision>
  <dcterms:created xsi:type="dcterms:W3CDTF">2026-03-19T12:08:29Z</dcterms:created>
  <dcterms:modified xsi:type="dcterms:W3CDTF">2026-03-20T10:22:22Z</dcterms:modified>
</cp:coreProperties>
</file>